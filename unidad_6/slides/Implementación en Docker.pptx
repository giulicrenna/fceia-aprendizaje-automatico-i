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Raleway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regular.fntdata"/><Relationship Id="rId22" Type="http://schemas.openxmlformats.org/officeDocument/2006/relationships/font" Target="fonts/Raleway-italic.fntdata"/><Relationship Id="rId21" Type="http://schemas.openxmlformats.org/officeDocument/2006/relationships/font" Target="fonts/Raleway-bold.fntdata"/><Relationship Id="rId24" Type="http://schemas.openxmlformats.org/officeDocument/2006/relationships/font" Target="fonts/Lato-regular.fntdata"/><Relationship Id="rId23" Type="http://schemas.openxmlformats.org/officeDocument/2006/relationships/font" Target="fonts/Raleway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7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d3e5aa8920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d3e5aa8920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d3e5aa8920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d3e5aa8920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d3e5aa8920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d3e5aa8920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d3e5aa8920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d3e5aa8920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9ffa6aca0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9ffa6aca0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d3e5aa8920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d3e5aa8920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d3e5aa8920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d3e5aa8920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d3e5aa8920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d3e5aa8920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d3e5aa8920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d3e5aa8920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d3fb61199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d3fb61199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d3fb61199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2d3fb61199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d61ed587b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2d61ed587b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d61ed587bb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2d61ed587bb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MLOps con Docker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Virtualización</a:t>
            </a:r>
            <a:endParaRPr/>
          </a:p>
        </p:txBody>
      </p:sp>
      <p:sp>
        <p:nvSpPr>
          <p:cNvPr id="92" name="Google Shape;92;p14"/>
          <p:cNvSpPr txBox="1"/>
          <p:nvPr>
            <p:ph idx="1" type="body"/>
          </p:nvPr>
        </p:nvSpPr>
        <p:spPr>
          <a:xfrm>
            <a:off x="727650" y="1903625"/>
            <a:ext cx="7688700" cy="85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Las computadoras que utilizamos, en general, son “físicas” y ejecutan un </a:t>
            </a:r>
            <a:r>
              <a:rPr lang="en-GB"/>
              <a:t>único</a:t>
            </a:r>
            <a:r>
              <a:rPr lang="en-GB"/>
              <a:t> sistema operativo en </a:t>
            </a:r>
            <a:r>
              <a:rPr lang="en-GB"/>
              <a:t>simultáneo</a:t>
            </a:r>
            <a:r>
              <a:rPr lang="en-GB"/>
              <a:t>, con el que interactuamos.</a:t>
            </a:r>
            <a:endParaRPr/>
          </a:p>
        </p:txBody>
      </p:sp>
      <p:pic>
        <p:nvPicPr>
          <p:cNvPr id="93" name="Google Shape;93;p14"/>
          <p:cNvPicPr preferRelativeResize="0"/>
          <p:nvPr/>
        </p:nvPicPr>
        <p:blipFill rotWithShape="1">
          <a:blip r:embed="rId3">
            <a:alphaModFix/>
          </a:blip>
          <a:srcRect b="3049" l="5621" r="53323" t="5943"/>
          <a:stretch/>
        </p:blipFill>
        <p:spPr>
          <a:xfrm>
            <a:off x="3846075" y="2621149"/>
            <a:ext cx="1455427" cy="221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Virtualización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727650" y="1853850"/>
            <a:ext cx="7688700" cy="24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El inconveniente es que durante la mayor parte del tiempo existe una </a:t>
            </a:r>
            <a:r>
              <a:rPr lang="en-GB"/>
              <a:t>porción</a:t>
            </a:r>
            <a:r>
              <a:rPr lang="en-GB"/>
              <a:t> de recursos/hardware que no </a:t>
            </a:r>
            <a:r>
              <a:rPr lang="en-GB"/>
              <a:t>está</a:t>
            </a:r>
            <a:r>
              <a:rPr lang="en-GB"/>
              <a:t> en uso.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Esto en computadoras de uso personal no representa </a:t>
            </a:r>
            <a:r>
              <a:rPr lang="en-GB"/>
              <a:t>ningún</a:t>
            </a:r>
            <a:r>
              <a:rPr lang="en-GB"/>
              <a:t> inconveniente, el problema surge cuando estas computadoras se utilizan como </a:t>
            </a:r>
            <a:r>
              <a:rPr b="1" lang="en-GB"/>
              <a:t>servidores</a:t>
            </a:r>
            <a:r>
              <a:rPr lang="en-GB"/>
              <a:t> para alojar productos o soluciones de empresas.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Para las empresas de infraestructura (por ejemplo: AWS) es un problema tener recursos sin usarse porque se pierden de ganar dinero, es como para una inmobiliaria tener un departamento sin alquilar.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Virtualización</a:t>
            </a:r>
            <a:endParaRPr/>
          </a:p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727650" y="1853850"/>
            <a:ext cx="7688700" cy="24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Entonces surge la </a:t>
            </a:r>
            <a:r>
              <a:rPr lang="en-GB"/>
              <a:t>virtualización</a:t>
            </a:r>
            <a:r>
              <a:rPr lang="en-GB"/>
              <a:t>, lo cual significa que en una computadora o servidor </a:t>
            </a:r>
            <a:r>
              <a:rPr lang="en-GB"/>
              <a:t>físico</a:t>
            </a:r>
            <a:r>
              <a:rPr lang="en-GB"/>
              <a:t> pueden coexistir </a:t>
            </a:r>
            <a:r>
              <a:rPr lang="en-GB"/>
              <a:t>múltiples</a:t>
            </a:r>
            <a:r>
              <a:rPr lang="en-GB"/>
              <a:t> </a:t>
            </a:r>
            <a:r>
              <a:rPr b="1" lang="en-GB"/>
              <a:t>máquinas</a:t>
            </a:r>
            <a:r>
              <a:rPr b="1" lang="en-GB"/>
              <a:t> virtuales</a:t>
            </a:r>
            <a:r>
              <a:rPr lang="en-GB"/>
              <a:t>, cada una con su sistema operativo y </a:t>
            </a:r>
            <a:r>
              <a:rPr lang="en-GB"/>
              <a:t>porción</a:t>
            </a:r>
            <a:r>
              <a:rPr lang="en-GB"/>
              <a:t> de hardware</a:t>
            </a:r>
            <a:r>
              <a:rPr lang="en-GB"/>
              <a:t>.</a:t>
            </a:r>
            <a:endParaRPr/>
          </a:p>
        </p:txBody>
      </p:sp>
      <p:pic>
        <p:nvPicPr>
          <p:cNvPr id="106" name="Google Shape;10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2489" y="2419351"/>
            <a:ext cx="3639025" cy="2503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Virtualización</a:t>
            </a:r>
            <a:endParaRPr/>
          </a:p>
        </p:txBody>
      </p:sp>
      <p:sp>
        <p:nvSpPr>
          <p:cNvPr id="112" name="Google Shape;112;p17"/>
          <p:cNvSpPr txBox="1"/>
          <p:nvPr>
            <p:ph idx="1" type="body"/>
          </p:nvPr>
        </p:nvSpPr>
        <p:spPr>
          <a:xfrm>
            <a:off x="727650" y="1853850"/>
            <a:ext cx="7688700" cy="24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La </a:t>
            </a:r>
            <a:r>
              <a:rPr lang="en-GB"/>
              <a:t>virtualización</a:t>
            </a:r>
            <a:r>
              <a:rPr lang="en-GB"/>
              <a:t> a </a:t>
            </a:r>
            <a:r>
              <a:rPr lang="en-GB"/>
              <a:t>través</a:t>
            </a:r>
            <a:r>
              <a:rPr lang="en-GB"/>
              <a:t> de </a:t>
            </a:r>
            <a:r>
              <a:rPr lang="en-GB"/>
              <a:t>máquinas</a:t>
            </a:r>
            <a:r>
              <a:rPr lang="en-GB"/>
              <a:t> virtuales (VM) es algo que se sigue utilizando actualmente y durante mucho tiempo fue el </a:t>
            </a:r>
            <a:r>
              <a:rPr lang="en-GB"/>
              <a:t>único</a:t>
            </a:r>
            <a:r>
              <a:rPr lang="en-GB"/>
              <a:t> </a:t>
            </a:r>
            <a:r>
              <a:rPr lang="en-GB"/>
              <a:t>método</a:t>
            </a:r>
            <a:r>
              <a:rPr lang="en-GB"/>
              <a:t> de </a:t>
            </a:r>
            <a:r>
              <a:rPr lang="en-GB"/>
              <a:t>virtualización</a:t>
            </a:r>
            <a:r>
              <a:rPr lang="en-GB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La desventaja de las VM es que cada instancia tiene su propio sistema operativo, por lo que las </a:t>
            </a:r>
            <a:r>
              <a:rPr b="1" lang="en-GB"/>
              <a:t>imágenes</a:t>
            </a:r>
            <a:r>
              <a:rPr lang="en-GB"/>
              <a:t> pueden presentar un </a:t>
            </a:r>
            <a:r>
              <a:rPr lang="en-GB"/>
              <a:t>tamaño</a:t>
            </a:r>
            <a:r>
              <a:rPr lang="en-GB"/>
              <a:t> considerablemente grande.</a:t>
            </a:r>
            <a:endParaRPr/>
          </a:p>
        </p:txBody>
      </p:sp>
      <p:pic>
        <p:nvPicPr>
          <p:cNvPr id="113" name="Google Shape;113;p17"/>
          <p:cNvPicPr preferRelativeResize="0"/>
          <p:nvPr/>
        </p:nvPicPr>
        <p:blipFill rotWithShape="1">
          <a:blip r:embed="rId3">
            <a:alphaModFix/>
          </a:blip>
          <a:srcRect b="13086" l="51675" r="3305" t="5936"/>
          <a:stretch/>
        </p:blipFill>
        <p:spPr>
          <a:xfrm>
            <a:off x="3754650" y="3100900"/>
            <a:ext cx="1638298" cy="202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Ejemplo: Proxmox</a:t>
            </a:r>
            <a:endParaRPr/>
          </a:p>
        </p:txBody>
      </p:sp>
      <p:sp>
        <p:nvSpPr>
          <p:cNvPr id="119" name="Google Shape;119;p18"/>
          <p:cNvSpPr txBox="1"/>
          <p:nvPr>
            <p:ph idx="1" type="body"/>
          </p:nvPr>
        </p:nvSpPr>
        <p:spPr>
          <a:xfrm>
            <a:off x="727650" y="1853850"/>
            <a:ext cx="7688700" cy="292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accent2"/>
                </a:solidFill>
              </a:rPr>
              <a:t>https://www.proxmox.com/en/products/proxmox-virtual-environment/overview</a:t>
            </a:r>
            <a:endParaRPr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Virtualización</a:t>
            </a:r>
            <a:endParaRPr/>
          </a:p>
        </p:txBody>
      </p:sp>
      <p:sp>
        <p:nvSpPr>
          <p:cNvPr id="125" name="Google Shape;125;p19"/>
          <p:cNvSpPr txBox="1"/>
          <p:nvPr>
            <p:ph idx="1" type="body"/>
          </p:nvPr>
        </p:nvSpPr>
        <p:spPr>
          <a:xfrm>
            <a:off x="727650" y="1853850"/>
            <a:ext cx="7688700" cy="24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Para subsanar esta </a:t>
            </a:r>
            <a:r>
              <a:rPr lang="en-GB"/>
              <a:t>cuestión</a:t>
            </a:r>
            <a:r>
              <a:rPr lang="en-GB"/>
              <a:t> surge Docker, implementando la </a:t>
            </a:r>
            <a:r>
              <a:rPr lang="en-GB"/>
              <a:t>virtualización</a:t>
            </a:r>
            <a:r>
              <a:rPr lang="en-GB"/>
              <a:t> a </a:t>
            </a:r>
            <a:r>
              <a:rPr lang="en-GB"/>
              <a:t>través</a:t>
            </a:r>
            <a:r>
              <a:rPr lang="en-GB"/>
              <a:t> de contenedores.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En este caso, se comparte el sistema operativo entre los diferentes containers, por lo cual las </a:t>
            </a:r>
            <a:r>
              <a:rPr lang="en-GB"/>
              <a:t>imágenes</a:t>
            </a:r>
            <a:r>
              <a:rPr lang="en-GB"/>
              <a:t> tienen un </a:t>
            </a:r>
            <a:r>
              <a:rPr lang="en-GB"/>
              <a:t>tamaño</a:t>
            </a:r>
            <a:r>
              <a:rPr lang="en-GB"/>
              <a:t> </a:t>
            </a:r>
            <a:r>
              <a:rPr lang="en-GB"/>
              <a:t>más</a:t>
            </a:r>
            <a:r>
              <a:rPr lang="en-GB"/>
              <a:t> reducido en </a:t>
            </a:r>
            <a:r>
              <a:rPr lang="en-GB"/>
              <a:t>comparación</a:t>
            </a:r>
            <a:r>
              <a:rPr lang="en-GB"/>
              <a:t> a las VM ya que es posible ejecutar aplicaciones en entornos </a:t>
            </a:r>
            <a:r>
              <a:rPr b="1" lang="en-GB"/>
              <a:t>aislados</a:t>
            </a:r>
            <a:r>
              <a:rPr lang="en-GB"/>
              <a:t> sin necesidad de duplicar el SO en cada uno.</a:t>
            </a:r>
            <a:endParaRPr/>
          </a:p>
        </p:txBody>
      </p:sp>
      <p:pic>
        <p:nvPicPr>
          <p:cNvPr id="126" name="Google Shape;12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2749" y="3167724"/>
            <a:ext cx="3591851" cy="169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Docker</a:t>
            </a:r>
            <a:endParaRPr/>
          </a:p>
        </p:txBody>
      </p:sp>
      <p:sp>
        <p:nvSpPr>
          <p:cNvPr id="132" name="Google Shape;132;p20"/>
          <p:cNvSpPr txBox="1"/>
          <p:nvPr>
            <p:ph idx="1" type="body"/>
          </p:nvPr>
        </p:nvSpPr>
        <p:spPr>
          <a:xfrm>
            <a:off x="727650" y="1853850"/>
            <a:ext cx="7688700" cy="24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En Docker existen </a:t>
            </a:r>
            <a:r>
              <a:rPr lang="en-GB"/>
              <a:t>imágenes</a:t>
            </a:r>
            <a:r>
              <a:rPr lang="en-GB"/>
              <a:t> que se instancian en contenedores y permiten encapsular aplicaciones para su </a:t>
            </a:r>
            <a:r>
              <a:rPr lang="en-GB"/>
              <a:t>implementación</a:t>
            </a:r>
            <a:r>
              <a:rPr lang="en-GB"/>
              <a:t>, en nuestro caso las aplicaciones son modelos.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En general, en estos contenedores se instancian APIs para consumir los modelos implementados a </a:t>
            </a:r>
            <a:r>
              <a:rPr lang="en-GB"/>
              <a:t>través</a:t>
            </a:r>
            <a:r>
              <a:rPr lang="en-GB"/>
              <a:t> de requests HTTP, desde una </a:t>
            </a:r>
            <a:r>
              <a:rPr lang="en-GB"/>
              <a:t>aplicación</a:t>
            </a:r>
            <a:r>
              <a:rPr lang="en-GB"/>
              <a:t> web o mobile, por ejemplo.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Para quitarle complejidad a la </a:t>
            </a:r>
            <a:r>
              <a:rPr lang="en-GB"/>
              <a:t>implementación</a:t>
            </a:r>
            <a:r>
              <a:rPr lang="en-GB"/>
              <a:t>, vamos a hacer las estimaciones desde archivos locales </a:t>
            </a:r>
            <a:r>
              <a:rPr b="1" lang="en-GB"/>
              <a:t>montados</a:t>
            </a:r>
            <a:r>
              <a:rPr lang="en-GB"/>
              <a:t> como </a:t>
            </a:r>
            <a:r>
              <a:rPr lang="en-GB"/>
              <a:t>volúmenes</a:t>
            </a:r>
            <a:r>
              <a:rPr lang="en-GB"/>
              <a:t> en el container y los resultados los vamos a escribir </a:t>
            </a:r>
            <a:r>
              <a:rPr lang="en-GB"/>
              <a:t>también</a:t>
            </a:r>
            <a:r>
              <a:rPr lang="en-GB"/>
              <a:t> en archivos locales.</a:t>
            </a:r>
            <a:endParaRPr/>
          </a:p>
        </p:txBody>
      </p:sp>
      <p:pic>
        <p:nvPicPr>
          <p:cNvPr id="133" name="Google Shape;133;p20"/>
          <p:cNvPicPr preferRelativeResize="0"/>
          <p:nvPr/>
        </p:nvPicPr>
        <p:blipFill rotWithShape="1">
          <a:blip r:embed="rId3">
            <a:alphaModFix/>
          </a:blip>
          <a:srcRect b="14722" l="5095" r="2943" t="23887"/>
          <a:stretch/>
        </p:blipFill>
        <p:spPr>
          <a:xfrm>
            <a:off x="2558311" y="3772675"/>
            <a:ext cx="4030976" cy="133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Docker</a:t>
            </a:r>
            <a:endParaRPr/>
          </a:p>
        </p:txBody>
      </p:sp>
      <p:sp>
        <p:nvSpPr>
          <p:cNvPr id="139" name="Google Shape;139;p21"/>
          <p:cNvSpPr txBox="1"/>
          <p:nvPr>
            <p:ph idx="1" type="body"/>
          </p:nvPr>
        </p:nvSpPr>
        <p:spPr>
          <a:xfrm>
            <a:off x="727650" y="1853850"/>
            <a:ext cx="7688700" cy="292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Para crear una imagen de docker se utiliza un archivo Dockerfile con las </a:t>
            </a:r>
            <a:r>
              <a:rPr lang="en-GB"/>
              <a:t>instrucciones</a:t>
            </a:r>
            <a:r>
              <a:rPr lang="en-GB"/>
              <a:t> para hacerlo.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En general para machine learning: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AutoNum type="arabicPeriod"/>
            </a:pPr>
            <a:r>
              <a:rPr lang="en-GB"/>
              <a:t>Se toma como base una imagen base de Python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GB"/>
              <a:t>Instalar</a:t>
            </a:r>
            <a:r>
              <a:rPr lang="en-GB"/>
              <a:t> librerias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GB"/>
              <a:t>Es indispensable </a:t>
            </a:r>
            <a:r>
              <a:rPr lang="en-GB"/>
              <a:t>únicamente</a:t>
            </a:r>
            <a:r>
              <a:rPr lang="en-GB"/>
              <a:t> incluir </a:t>
            </a:r>
            <a:r>
              <a:rPr lang="en-GB"/>
              <a:t>librerías</a:t>
            </a:r>
            <a:r>
              <a:rPr lang="en-GB"/>
              <a:t> necesarias para la </a:t>
            </a:r>
            <a:r>
              <a:rPr lang="en-GB"/>
              <a:t>ejecución</a:t>
            </a:r>
            <a:r>
              <a:rPr lang="en-GB"/>
              <a:t> del </a:t>
            </a:r>
            <a:r>
              <a:rPr lang="en-GB"/>
              <a:t>código</a:t>
            </a:r>
            <a:r>
              <a:rPr lang="en-GB"/>
              <a:t>, de lo contrario el </a:t>
            </a:r>
            <a:r>
              <a:rPr lang="en-GB"/>
              <a:t>tamaño</a:t>
            </a:r>
            <a:r>
              <a:rPr lang="en-GB"/>
              <a:t> de la imagen se </a:t>
            </a:r>
            <a:r>
              <a:rPr lang="en-GB"/>
              <a:t>verá</a:t>
            </a:r>
            <a:r>
              <a:rPr lang="en-GB"/>
              <a:t> incrementado. Para esto pueden usar entornos virtuales de Python.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GB"/>
              <a:t>Copiar scripts de inferencia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GB"/>
              <a:t>Ejecutar scripts de inferencia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GB"/>
              <a:t>E</a:t>
            </a:r>
            <a:r>
              <a:rPr lang="en-GB"/>
              <a:t>n una implementación real se inicializa un API, en este caso procesamos los archivos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Docker</a:t>
            </a:r>
            <a:endParaRPr/>
          </a:p>
        </p:txBody>
      </p:sp>
      <p:sp>
        <p:nvSpPr>
          <p:cNvPr id="145" name="Google Shape;145;p22"/>
          <p:cNvSpPr txBox="1"/>
          <p:nvPr>
            <p:ph idx="1" type="body"/>
          </p:nvPr>
        </p:nvSpPr>
        <p:spPr>
          <a:xfrm>
            <a:off x="727650" y="1853850"/>
            <a:ext cx="7688700" cy="292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Los binarios del modelo se pueden encapsular en la imagen o montar como archivos. La primera </a:t>
            </a:r>
            <a:r>
              <a:rPr lang="en-GB"/>
              <a:t>opción</a:t>
            </a:r>
            <a:r>
              <a:rPr lang="en-GB"/>
              <a:t> es </a:t>
            </a:r>
            <a:r>
              <a:rPr lang="en-GB"/>
              <a:t>más</a:t>
            </a:r>
            <a:r>
              <a:rPr lang="en-GB"/>
              <a:t> sencilla, pero incrementa el peso de la imagen y quita flexibilidad, ya que para modificar el binario se requiere construir nuevamente la imagen.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El objetivo es que en el repositorio del TP incluyan </a:t>
            </a:r>
            <a:r>
              <a:rPr lang="en-GB"/>
              <a:t>un</a:t>
            </a:r>
            <a:r>
              <a:rPr lang="en-GB"/>
              <a:t> Dockerfile, archivo con </a:t>
            </a:r>
            <a:r>
              <a:rPr lang="en-GB"/>
              <a:t>librerías</a:t>
            </a:r>
            <a:r>
              <a:rPr lang="en-GB"/>
              <a:t> requeridas, scripts de inferencia y binarios de modelo.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Ademas, indiquen las especificaciones para ejecutar el contenedor y realizar la inferencia, </a:t>
            </a:r>
            <a:r>
              <a:rPr lang="en-GB"/>
              <a:t>así los docentes</a:t>
            </a:r>
            <a:r>
              <a:rPr lang="en-GB"/>
              <a:t> podemos clonar el repositorio y ejecutar el container localmente.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Una de las mayores ventajas que tiene Docker es que permite eliminar la diferencia de compatibilidad entre diferentes entornos de </a:t>
            </a:r>
            <a:r>
              <a:rPr lang="en-GB"/>
              <a:t>ejecución</a:t>
            </a:r>
            <a:r>
              <a:rPr lang="en-GB"/>
              <a:t>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Docker: instalar</a:t>
            </a:r>
            <a:endParaRPr/>
          </a:p>
        </p:txBody>
      </p:sp>
      <p:sp>
        <p:nvSpPr>
          <p:cNvPr id="151" name="Google Shape;151;p23"/>
          <p:cNvSpPr txBox="1"/>
          <p:nvPr>
            <p:ph idx="1" type="body"/>
          </p:nvPr>
        </p:nvSpPr>
        <p:spPr>
          <a:xfrm>
            <a:off x="727650" y="1853850"/>
            <a:ext cx="7688700" cy="292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accent2"/>
                </a:solidFill>
              </a:rPr>
              <a:t>https://docs.docker.com/desktop/install/windows-install/</a:t>
            </a:r>
            <a:endParaRPr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Dockerfile: ejemplo</a:t>
            </a:r>
            <a:endParaRPr/>
          </a:p>
        </p:txBody>
      </p:sp>
      <p:sp>
        <p:nvSpPr>
          <p:cNvPr id="157" name="Google Shape;157;p24"/>
          <p:cNvSpPr txBox="1"/>
          <p:nvPr>
            <p:ph idx="1" type="body"/>
          </p:nvPr>
        </p:nvSpPr>
        <p:spPr>
          <a:xfrm>
            <a:off x="727650" y="1853850"/>
            <a:ext cx="7688700" cy="292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FROM</a:t>
            </a:r>
            <a:r>
              <a:rPr lang="en-GB"/>
              <a:t> </a:t>
            </a:r>
            <a:r>
              <a:rPr lang="en-GB"/>
              <a:t>python:3.12-slim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WORKDIR /app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COPY requirements.txt ./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RUN pip install --no-cache-dir -r requirements.txt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COPY . 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CMD [ "python", "./inference.py" ]</a:t>
            </a:r>
            <a:endParaRPr/>
          </a:p>
        </p:txBody>
      </p:sp>
      <p:sp>
        <p:nvSpPr>
          <p:cNvPr id="158" name="Google Shape;158;p24"/>
          <p:cNvSpPr txBox="1"/>
          <p:nvPr/>
        </p:nvSpPr>
        <p:spPr>
          <a:xfrm>
            <a:off x="6464025" y="1414800"/>
            <a:ext cx="26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2"/>
                </a:solidFill>
              </a:rPr>
              <a:t>https://hub.docker.com/_/python</a:t>
            </a:r>
            <a:endParaRPr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Docker: comandos</a:t>
            </a:r>
            <a:endParaRPr/>
          </a:p>
        </p:txBody>
      </p:sp>
      <p:sp>
        <p:nvSpPr>
          <p:cNvPr id="164" name="Google Shape;164;p25"/>
          <p:cNvSpPr txBox="1"/>
          <p:nvPr>
            <p:ph idx="1" type="body"/>
          </p:nvPr>
        </p:nvSpPr>
        <p:spPr>
          <a:xfrm>
            <a:off x="727650" y="1853850"/>
            <a:ext cx="7688700" cy="292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Buildear imagen: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Char char="●"/>
            </a:pP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docker build -t inference-tp2-mlops .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Ejecutar imagen buildeada con la carpeta files montada como volumen para leer inputs y escribir predicciones: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Char char="●"/>
            </a:pP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docker run -it --rm --name 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inference-tp2-mlops-container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 -v “./path/en/host/files:/path/en/container/files” inference-tp2-mlops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5"/>
          <p:cNvSpPr txBox="1"/>
          <p:nvPr/>
        </p:nvSpPr>
        <p:spPr>
          <a:xfrm>
            <a:off x="6464025" y="1414800"/>
            <a:ext cx="26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2"/>
                </a:solidFill>
              </a:rPr>
              <a:t>https://hub.docker.com/_/python</a:t>
            </a:r>
            <a:endParaRPr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Docker: ejemplo estructura</a:t>
            </a:r>
            <a:endParaRPr/>
          </a:p>
        </p:txBody>
      </p:sp>
      <p:sp>
        <p:nvSpPr>
          <p:cNvPr id="171" name="Google Shape;171;p26"/>
          <p:cNvSpPr txBox="1"/>
          <p:nvPr>
            <p:ph idx="1" type="body"/>
          </p:nvPr>
        </p:nvSpPr>
        <p:spPr>
          <a:xfrm>
            <a:off x="727650" y="1853850"/>
            <a:ext cx="7688700" cy="44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La carpeta docker dentro del repositorio </a:t>
            </a:r>
            <a:r>
              <a:rPr lang="en-GB"/>
              <a:t>debería</a:t>
            </a:r>
            <a:r>
              <a:rPr lang="en-GB"/>
              <a:t> quedar </a:t>
            </a:r>
            <a:r>
              <a:rPr b="1" lang="en-GB"/>
              <a:t>similar</a:t>
            </a:r>
            <a:r>
              <a:rPr lang="en-GB"/>
              <a:t> al siguiente ejemplo:</a:t>
            </a:r>
            <a:endParaRPr/>
          </a:p>
        </p:txBody>
      </p:sp>
      <p:pic>
        <p:nvPicPr>
          <p:cNvPr id="172" name="Google Shape;17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3975" y="2301150"/>
            <a:ext cx="1333500" cy="1095375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6"/>
          <p:cNvSpPr txBox="1"/>
          <p:nvPr>
            <p:ph idx="1" type="body"/>
          </p:nvPr>
        </p:nvSpPr>
        <p:spPr>
          <a:xfrm>
            <a:off x="727650" y="3476925"/>
            <a:ext cx="7688700" cy="11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Recordar </a:t>
            </a:r>
            <a:r>
              <a:rPr lang="en-GB"/>
              <a:t>únicamente</a:t>
            </a:r>
            <a:r>
              <a:rPr lang="en-GB"/>
              <a:t> </a:t>
            </a:r>
            <a:r>
              <a:rPr b="1" lang="en-GB"/>
              <a:t>instalar las </a:t>
            </a:r>
            <a:r>
              <a:rPr b="1" lang="en-GB"/>
              <a:t>librerías</a:t>
            </a:r>
            <a:r>
              <a:rPr b="1" lang="en-GB"/>
              <a:t> requeridas para la inferencia</a:t>
            </a:r>
            <a:r>
              <a:rPr lang="en-GB"/>
              <a:t> (con sus respectivas versiones) y </a:t>
            </a:r>
            <a:r>
              <a:rPr b="1" lang="en-GB"/>
              <a:t>copiar los archivos necesarios solamente</a:t>
            </a:r>
            <a:r>
              <a:rPr lang="en-GB"/>
              <a:t> para evitar incrementar el </a:t>
            </a:r>
            <a:r>
              <a:rPr lang="en-GB"/>
              <a:t>tamaño</a:t>
            </a:r>
            <a:r>
              <a:rPr lang="en-GB"/>
              <a:t> de la imagen (NO copiar el entorno virtual)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